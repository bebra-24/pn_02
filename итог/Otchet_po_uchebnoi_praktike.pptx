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946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7920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25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438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675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560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236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5136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9311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719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0389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9133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944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7394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867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57743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4035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789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lege-pedagogiki-slobodskoj-r43.gosweb.gosuslugi.ru/kontakty/#shema-proezd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87488" y="1904638"/>
            <a:ext cx="7766936" cy="1646302"/>
          </a:xfrm>
        </p:spPr>
        <p:txBody>
          <a:bodyPr>
            <a:noAutofit/>
          </a:bodyPr>
          <a:lstStyle/>
          <a:p>
            <a:r>
              <a:rPr lang="ru-RU" sz="3600" dirty="0"/>
              <a:t>Отчет по учебной практике </a:t>
            </a:r>
            <a:br>
              <a:rPr lang="ru-RU" sz="3600" dirty="0"/>
            </a:br>
            <a:r>
              <a:rPr lang="ru-RU" sz="3600" dirty="0"/>
              <a:t>ПМ.02 Осуществление интеграции программных модулей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456040" y="3922592"/>
            <a:ext cx="3816424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ru-RU" dirty="0"/>
              <a:t>Студент Боков Денис Андреевич</a:t>
            </a:r>
          </a:p>
          <a:p>
            <a:pPr algn="l"/>
            <a:r>
              <a:rPr lang="ru-RU" dirty="0"/>
              <a:t> группа 23П-2 </a:t>
            </a:r>
          </a:p>
          <a:p>
            <a:pPr algn="l"/>
            <a:r>
              <a:rPr lang="ru-RU" dirty="0" err="1"/>
              <a:t>Специалоность</a:t>
            </a:r>
            <a:r>
              <a:rPr lang="ru-RU" dirty="0"/>
              <a:t> 09.02.07 Информационные системы и программирование</a:t>
            </a:r>
          </a:p>
          <a:p>
            <a:pPr algn="l"/>
            <a:r>
              <a:rPr lang="ru-RU" dirty="0"/>
              <a:t>Руководитель практики от колледжа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Калинин Арсений Олегович</a:t>
            </a:r>
          </a:p>
          <a:p>
            <a:pPr algn="l"/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2639616" y="332657"/>
            <a:ext cx="71287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cap="all" dirty="0"/>
              <a:t>Министерство образования Кировской области</a:t>
            </a:r>
          </a:p>
          <a:p>
            <a:pPr algn="ctr"/>
            <a:r>
              <a:rPr lang="ru-RU" dirty="0"/>
              <a:t>Кировское областное государственное профессиональное бюджетное учреждение </a:t>
            </a:r>
          </a:p>
          <a:p>
            <a:pPr algn="ctr"/>
            <a:r>
              <a:rPr lang="ru-RU" dirty="0"/>
              <a:t>«Слободской колледж педагогики и социальных отношений»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1864" y="6309320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2025 – 2026 г.</a:t>
            </a:r>
          </a:p>
        </p:txBody>
      </p:sp>
    </p:spTree>
    <p:extLst>
      <p:ext uri="{BB962C8B-B14F-4D97-AF65-F5344CB8AC3E}">
        <p14:creationId xmlns:p14="http://schemas.microsoft.com/office/powerpoint/2010/main" val="4207866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База практики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Название организации   </a:t>
            </a:r>
            <a:r>
              <a:rPr lang="ru-RU" b="1" i="0" dirty="0">
                <a:solidFill>
                  <a:srgbClr val="2E2E2E"/>
                </a:solidFill>
                <a:effectLst/>
                <a:latin typeface="Onest Variable"/>
              </a:rPr>
              <a:t>Слободской колледж педагогики и социальных отношений</a:t>
            </a:r>
            <a:endParaRPr lang="ru-RU" dirty="0"/>
          </a:p>
          <a:p>
            <a:r>
              <a:rPr lang="ru-RU" dirty="0"/>
              <a:t>Адрес и контактный телефон организации </a:t>
            </a:r>
            <a:r>
              <a:rPr lang="ru-RU" b="0" i="0" u="none" strike="noStrike" dirty="0">
                <a:solidFill>
                  <a:srgbClr val="0D4CD3"/>
                </a:solidFill>
                <a:effectLst/>
                <a:latin typeface="LatoWeb"/>
                <a:hlinkClick r:id="rId2"/>
              </a:rPr>
              <a:t>Кировская область г. Слободской ул. Рождественская, 69</a:t>
            </a:r>
            <a:r>
              <a:rPr lang="ru-RU" b="0" i="0" u="none" strike="noStrike" dirty="0">
                <a:solidFill>
                  <a:srgbClr val="0D4CD3"/>
                </a:solidFill>
                <a:effectLst/>
                <a:latin typeface="LatoWeb"/>
              </a:rPr>
              <a:t> </a:t>
            </a:r>
            <a:endParaRPr lang="ru-RU" dirty="0"/>
          </a:p>
          <a:p>
            <a:r>
              <a:rPr lang="ru-RU" dirty="0"/>
              <a:t>Сфера деятельности организации </a:t>
            </a:r>
            <a:r>
              <a:rPr lang="ru-RU" b="1" i="0" dirty="0">
                <a:solidFill>
                  <a:srgbClr val="2E2E2E"/>
                </a:solidFill>
                <a:effectLst/>
                <a:latin typeface="Onest Variable"/>
              </a:rPr>
              <a:t>колледж педагогики и социальных отношений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6589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практики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D969258-8453-86DD-C30A-59AF5B5B00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0364517"/>
              </p:ext>
            </p:extLst>
          </p:nvPr>
        </p:nvGraphicFramePr>
        <p:xfrm>
          <a:off x="702937" y="1412777"/>
          <a:ext cx="10811728" cy="511256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{793D81CF-94F2-401A-BA57-92F5A7B2D0C5}</a:tableStyleId>
              </a:tblPr>
              <a:tblGrid>
                <a:gridCol w="6711921">
                  <a:extLst>
                    <a:ext uri="{9D8B030D-6E8A-4147-A177-3AD203B41FA5}">
                      <a16:colId xmlns:a16="http://schemas.microsoft.com/office/drawing/2014/main" val="4277170213"/>
                    </a:ext>
                  </a:extLst>
                </a:gridCol>
                <a:gridCol w="1301732">
                  <a:extLst>
                    <a:ext uri="{9D8B030D-6E8A-4147-A177-3AD203B41FA5}">
                      <a16:colId xmlns:a16="http://schemas.microsoft.com/office/drawing/2014/main" val="2087713565"/>
                    </a:ext>
                  </a:extLst>
                </a:gridCol>
                <a:gridCol w="1552564">
                  <a:extLst>
                    <a:ext uri="{9D8B030D-6E8A-4147-A177-3AD203B41FA5}">
                      <a16:colId xmlns:a16="http://schemas.microsoft.com/office/drawing/2014/main" val="3715205057"/>
                    </a:ext>
                  </a:extLst>
                </a:gridCol>
                <a:gridCol w="1245511">
                  <a:extLst>
                    <a:ext uri="{9D8B030D-6E8A-4147-A177-3AD203B41FA5}">
                      <a16:colId xmlns:a16="http://schemas.microsoft.com/office/drawing/2014/main" val="4066750873"/>
                    </a:ext>
                  </a:extLst>
                </a:gridCol>
              </a:tblGrid>
              <a:tr h="254293">
                <a:tc>
                  <a:txBody>
                    <a:bodyPr/>
                    <a:lstStyle/>
                    <a:p>
                      <a:pPr marL="179705" indent="-179705" algn="just">
                        <a:lnSpc>
                          <a:spcPct val="107000"/>
                        </a:lnSpc>
                      </a:pPr>
                      <a:r>
                        <a:rPr lang="ru-RU" sz="1000" b="1">
                          <a:effectLst/>
                        </a:rPr>
                        <a:t>Тема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</a:rPr>
                        <a:t>Дата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</a:rPr>
                        <a:t>Время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000" b="1">
                          <a:effectLst/>
                        </a:rPr>
                        <a:t>Часы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extLst>
                  <a:ext uri="{0D108BD9-81ED-4DB2-BD59-A6C34878D82A}">
                    <a16:rowId xmlns:a16="http://schemas.microsoft.com/office/drawing/2014/main" val="1584213555"/>
                  </a:ext>
                </a:extLst>
              </a:tr>
              <a:tr h="423107">
                <a:tc>
                  <a:txBody>
                    <a:bodyPr/>
                    <a:lstStyle/>
                    <a:p>
                      <a:pPr marL="179705" indent="-179705" algn="just">
                        <a:lnSpc>
                          <a:spcPct val="107000"/>
                        </a:lnSpc>
                      </a:pPr>
                      <a:r>
                        <a:rPr lang="ru-RU" sz="1000">
                          <a:effectLst/>
                        </a:rPr>
                        <a:t>Цели и задачи учебной практики.</a:t>
                      </a:r>
                      <a:endParaRPr lang="ru-RU" sz="1100">
                        <a:effectLst/>
                      </a:endParaRPr>
                    </a:p>
                    <a:p>
                      <a:pPr marL="179705" indent="-179705" algn="just">
                        <a:lnSpc>
                          <a:spcPct val="107000"/>
                        </a:lnSpc>
                      </a:pPr>
                      <a:r>
                        <a:rPr lang="ru-RU" sz="1000">
                          <a:effectLst/>
                        </a:rPr>
                        <a:t>Анализ предметной области.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06.05.2026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08.00 – 09.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000">
                          <a:effectLst/>
                        </a:rPr>
                        <a:t>2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extLst>
                  <a:ext uri="{0D108BD9-81ED-4DB2-BD59-A6C34878D82A}">
                    <a16:rowId xmlns:a16="http://schemas.microsoft.com/office/drawing/2014/main" val="1926703756"/>
                  </a:ext>
                </a:extLst>
              </a:tr>
              <a:tr h="254293">
                <a:tc>
                  <a:txBody>
                    <a:bodyPr/>
                    <a:lstStyle/>
                    <a:p>
                      <a:pPr marL="179705" indent="-179705" algn="just">
                        <a:lnSpc>
                          <a:spcPct val="107000"/>
                        </a:lnSpc>
                      </a:pPr>
                      <a:r>
                        <a:rPr lang="ru-RU" sz="1000">
                          <a:effectLst/>
                        </a:rPr>
                        <a:t>Определение требований проекта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06.05.2026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09.40 – 11.10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000">
                          <a:effectLst/>
                        </a:rPr>
                        <a:t>2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extLst>
                  <a:ext uri="{0D108BD9-81ED-4DB2-BD59-A6C34878D82A}">
                    <a16:rowId xmlns:a16="http://schemas.microsoft.com/office/drawing/2014/main" val="2631193172"/>
                  </a:ext>
                </a:extLst>
              </a:tr>
              <a:tr h="254293">
                <a:tc>
                  <a:txBody>
                    <a:bodyPr/>
                    <a:lstStyle/>
                    <a:p>
                      <a:pPr marL="179705" indent="-179705" algn="just">
                        <a:lnSpc>
                          <a:spcPct val="107000"/>
                        </a:lnSpc>
                      </a:pPr>
                      <a:r>
                        <a:rPr lang="ru-RU" sz="1000">
                          <a:effectLst/>
                        </a:rPr>
                        <a:t>Разработка и оформление документа «Техническое задание»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06.05.2026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12.00 - 15.10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000">
                          <a:effectLst/>
                        </a:rPr>
                        <a:t>4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extLst>
                  <a:ext uri="{0D108BD9-81ED-4DB2-BD59-A6C34878D82A}">
                    <a16:rowId xmlns:a16="http://schemas.microsoft.com/office/drawing/2014/main" val="3919003885"/>
                  </a:ext>
                </a:extLst>
              </a:tr>
              <a:tr h="346225">
                <a:tc>
                  <a:txBody>
                    <a:bodyPr/>
                    <a:lstStyle/>
                    <a:p>
                      <a:pPr marL="179705" indent="-179705" algn="just">
                        <a:lnSpc>
                          <a:spcPct val="107000"/>
                        </a:lnSpc>
                      </a:pPr>
                      <a:r>
                        <a:rPr lang="ru-RU" sz="1000">
                          <a:effectLst/>
                        </a:rPr>
                        <a:t>Разработка структуры проекта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07.05.2026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09.40 – 13.30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000">
                          <a:effectLst/>
                        </a:rPr>
                        <a:t>4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extLst>
                  <a:ext uri="{0D108BD9-81ED-4DB2-BD59-A6C34878D82A}">
                    <a16:rowId xmlns:a16="http://schemas.microsoft.com/office/drawing/2014/main" val="245866430"/>
                  </a:ext>
                </a:extLst>
              </a:tr>
              <a:tr h="325466">
                <a:tc>
                  <a:txBody>
                    <a:bodyPr/>
                    <a:lstStyle/>
                    <a:p>
                      <a:pPr marL="179705" indent="-179705">
                        <a:lnSpc>
                          <a:spcPct val="107000"/>
                        </a:lnSpc>
                      </a:pPr>
                      <a:r>
                        <a:rPr lang="ru-RU" sz="1000">
                          <a:effectLst/>
                        </a:rPr>
                        <a:t>Внешнее проектирование (разработка внешней спецификации)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marL="179705" indent="-179705" algn="just">
                        <a:lnSpc>
                          <a:spcPct val="107000"/>
                        </a:lnSpc>
                      </a:pPr>
                      <a:r>
                        <a:rPr lang="ru-RU" sz="1000">
                          <a:effectLst/>
                        </a:rPr>
                        <a:t>07.05.2026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marL="179705" indent="-179705" algn="just">
                        <a:lnSpc>
                          <a:spcPct val="107000"/>
                        </a:lnSpc>
                      </a:pPr>
                      <a:r>
                        <a:rPr lang="ru-RU" sz="1000">
                          <a:effectLst/>
                        </a:rPr>
                        <a:t>13.40 – 15.10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marL="179705" indent="-179705" algn="ctr">
                        <a:lnSpc>
                          <a:spcPct val="107000"/>
                        </a:lnSpc>
                      </a:pPr>
                      <a:r>
                        <a:rPr lang="ru-RU" sz="10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extLst>
                  <a:ext uri="{0D108BD9-81ED-4DB2-BD59-A6C34878D82A}">
                    <a16:rowId xmlns:a16="http://schemas.microsoft.com/office/drawing/2014/main" val="3419292779"/>
                  </a:ext>
                </a:extLst>
              </a:tr>
              <a:tr h="212777">
                <a:tc>
                  <a:txBody>
                    <a:bodyPr/>
                    <a:lstStyle/>
                    <a:p>
                      <a:pPr marL="179705" indent="-179705" algn="just">
                        <a:lnSpc>
                          <a:spcPct val="107000"/>
                        </a:lnSpc>
                      </a:pPr>
                      <a:r>
                        <a:rPr lang="ru-RU" sz="1000">
                          <a:effectLst/>
                        </a:rPr>
                        <a:t>Внешнее проектирование (разработка внешней спецификации)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08.05.2026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09.40 - 13.30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000">
                          <a:effectLst/>
                        </a:rPr>
                        <a:t>4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extLst>
                  <a:ext uri="{0D108BD9-81ED-4DB2-BD59-A6C34878D82A}">
                    <a16:rowId xmlns:a16="http://schemas.microsoft.com/office/drawing/2014/main" val="3906528928"/>
                  </a:ext>
                </a:extLst>
              </a:tr>
              <a:tr h="2743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30"/>
                        </a:spcAft>
                        <a:tabLst>
                          <a:tab pos="238125" algn="ctr"/>
                          <a:tab pos="664845" algn="ctr"/>
                          <a:tab pos="1112520" algn="ctr"/>
                        </a:tabLst>
                      </a:pPr>
                      <a:r>
                        <a:rPr lang="ru-RU" sz="1000">
                          <a:effectLst/>
                        </a:rPr>
                        <a:t>Работа 	в системе контроля версий  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08.05.2026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13.40 – 17.00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000">
                          <a:effectLst/>
                        </a:rPr>
                        <a:t>4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extLst>
                  <a:ext uri="{0D108BD9-81ED-4DB2-BD59-A6C34878D82A}">
                    <a16:rowId xmlns:a16="http://schemas.microsoft.com/office/drawing/2014/main" val="958376566"/>
                  </a:ext>
                </a:extLst>
              </a:tr>
              <a:tr h="258742">
                <a:tc>
                  <a:txBody>
                    <a:bodyPr/>
                    <a:lstStyle/>
                    <a:p>
                      <a:pPr>
                        <a:lnSpc>
                          <a:spcPct val="99000"/>
                        </a:lnSpc>
                        <a:spcAft>
                          <a:spcPts val="225"/>
                        </a:spcAft>
                      </a:pPr>
                      <a:r>
                        <a:rPr lang="ru-RU" sz="1000">
                          <a:effectLst/>
                        </a:rPr>
                        <a:t>Разработка модулей проекта и их элементов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12.05.2026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09.40 - 13.30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000">
                          <a:effectLst/>
                        </a:rPr>
                        <a:t>4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extLst>
                  <a:ext uri="{0D108BD9-81ED-4DB2-BD59-A6C34878D82A}">
                    <a16:rowId xmlns:a16="http://schemas.microsoft.com/office/drawing/2014/main" val="2811707691"/>
                  </a:ext>
                </a:extLst>
              </a:tr>
              <a:tr h="206623">
                <a:tc>
                  <a:txBody>
                    <a:bodyPr/>
                    <a:lstStyle/>
                    <a:p>
                      <a:pPr>
                        <a:lnSpc>
                          <a:spcPct val="99000"/>
                        </a:lnSpc>
                        <a:spcAft>
                          <a:spcPts val="225"/>
                        </a:spcAft>
                      </a:pPr>
                      <a:r>
                        <a:rPr lang="ru-RU" sz="1000">
                          <a:effectLst/>
                        </a:rPr>
                        <a:t>Разработка модулей проекта и их элементов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12.05.2026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13.40 - 17.00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000">
                          <a:effectLst/>
                        </a:rPr>
                        <a:t>4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extLst>
                  <a:ext uri="{0D108BD9-81ED-4DB2-BD59-A6C34878D82A}">
                    <a16:rowId xmlns:a16="http://schemas.microsoft.com/office/drawing/2014/main" val="4209666312"/>
                  </a:ext>
                </a:extLst>
              </a:tr>
              <a:tr h="206623">
                <a:tc>
                  <a:txBody>
                    <a:bodyPr/>
                    <a:lstStyle/>
                    <a:p>
                      <a:pPr>
                        <a:lnSpc>
                          <a:spcPct val="99000"/>
                        </a:lnSpc>
                        <a:spcAft>
                          <a:spcPts val="225"/>
                        </a:spcAft>
                      </a:pPr>
                      <a:r>
                        <a:rPr lang="ru-RU" sz="1000">
                          <a:effectLst/>
                        </a:rPr>
                        <a:t>Разработка модулей проекта и их элементов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13.05.2026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08.00 - 09.30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000">
                          <a:effectLst/>
                        </a:rPr>
                        <a:t>2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extLst>
                  <a:ext uri="{0D108BD9-81ED-4DB2-BD59-A6C34878D82A}">
                    <a16:rowId xmlns:a16="http://schemas.microsoft.com/office/drawing/2014/main" val="4060820954"/>
                  </a:ext>
                </a:extLst>
              </a:tr>
              <a:tr h="206623">
                <a:tc>
                  <a:txBody>
                    <a:bodyPr/>
                    <a:lstStyle/>
                    <a:p>
                      <a:pPr marL="179705" indent="-179705" algn="just">
                        <a:lnSpc>
                          <a:spcPct val="107000"/>
                        </a:lnSpc>
                      </a:pPr>
                      <a:r>
                        <a:rPr lang="ru-RU" sz="1000">
                          <a:effectLst/>
                        </a:rPr>
                        <a:t>Интеграция модулей в программное обеспечение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13.05.2026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09.40 - 15.10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000">
                          <a:effectLst/>
                        </a:rPr>
                        <a:t>6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extLst>
                  <a:ext uri="{0D108BD9-81ED-4DB2-BD59-A6C34878D82A}">
                    <a16:rowId xmlns:a16="http://schemas.microsoft.com/office/drawing/2014/main" val="1957615811"/>
                  </a:ext>
                </a:extLst>
              </a:tr>
              <a:tr h="206623">
                <a:tc>
                  <a:txBody>
                    <a:bodyPr/>
                    <a:lstStyle/>
                    <a:p>
                      <a:pPr marL="179705" indent="-179705" algn="just">
                        <a:lnSpc>
                          <a:spcPct val="107000"/>
                        </a:lnSpc>
                      </a:pPr>
                      <a:r>
                        <a:rPr lang="ru-RU" sz="1000">
                          <a:effectLst/>
                        </a:rPr>
                        <a:t>Интеграция модулей в программное обеспечение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14.05.2026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09.40 – 13.30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000">
                          <a:effectLst/>
                        </a:rPr>
                        <a:t>4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extLst>
                  <a:ext uri="{0D108BD9-81ED-4DB2-BD59-A6C34878D82A}">
                    <a16:rowId xmlns:a16="http://schemas.microsoft.com/office/drawing/2014/main" val="413858080"/>
                  </a:ext>
                </a:extLst>
              </a:tr>
              <a:tr h="423107">
                <a:tc>
                  <a:txBody>
                    <a:bodyPr/>
                    <a:lstStyle/>
                    <a:p>
                      <a:pPr marL="179705" indent="-179705" algn="just">
                        <a:lnSpc>
                          <a:spcPct val="107000"/>
                        </a:lnSpc>
                      </a:pPr>
                      <a:r>
                        <a:rPr lang="ru-RU" sz="1000">
                          <a:effectLst/>
                        </a:rPr>
                        <a:t>Отладка 	модулей программного проекта.</a:t>
                      </a:r>
                      <a:endParaRPr lang="ru-RU" sz="1100">
                        <a:effectLst/>
                      </a:endParaRPr>
                    </a:p>
                    <a:p>
                      <a:pPr marL="179705" indent="-179705" algn="just">
                        <a:lnSpc>
                          <a:spcPct val="107000"/>
                        </a:lnSpc>
                      </a:pPr>
                      <a:r>
                        <a:rPr lang="ru-RU" sz="1000">
                          <a:effectLst/>
                        </a:rPr>
                        <a:t>Организация обработки исключений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15.05.2026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09.40 – 17.00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000">
                          <a:effectLst/>
                        </a:rPr>
                        <a:t>8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extLst>
                  <a:ext uri="{0D108BD9-81ED-4DB2-BD59-A6C34878D82A}">
                    <a16:rowId xmlns:a16="http://schemas.microsoft.com/office/drawing/2014/main" val="1762495047"/>
                  </a:ext>
                </a:extLst>
              </a:tr>
              <a:tr h="423107">
                <a:tc>
                  <a:txBody>
                    <a:bodyPr/>
                    <a:lstStyle/>
                    <a:p>
                      <a:pPr marL="179705" indent="-179705" algn="just">
                        <a:lnSpc>
                          <a:spcPct val="107000"/>
                        </a:lnSpc>
                      </a:pPr>
                      <a:r>
                        <a:rPr lang="ru-RU" sz="1000">
                          <a:effectLst/>
                        </a:rPr>
                        <a:t>Отладка проекта. Инспектирование компонент программного обеспечения на предмет соответствия стандартам кодирования.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15.05.2026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09.40 - 17.00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000">
                          <a:effectLst/>
                        </a:rPr>
                        <a:t>8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extLst>
                  <a:ext uri="{0D108BD9-81ED-4DB2-BD59-A6C34878D82A}">
                    <a16:rowId xmlns:a16="http://schemas.microsoft.com/office/drawing/2014/main" val="3507860367"/>
                  </a:ext>
                </a:extLst>
              </a:tr>
              <a:tr h="206623">
                <a:tc>
                  <a:txBody>
                    <a:bodyPr/>
                    <a:lstStyle/>
                    <a:p>
                      <a:pPr marL="179705" indent="-179705" algn="just">
                        <a:lnSpc>
                          <a:spcPct val="107000"/>
                        </a:lnSpc>
                      </a:pPr>
                      <a:r>
                        <a:rPr lang="ru-RU" sz="1000">
                          <a:effectLst/>
                        </a:rPr>
                        <a:t>Разработка тестовых наборов и тестовых сценариев для программного обеспечения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16.05.2026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 08.00 – 11.10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000">
                          <a:effectLst/>
                        </a:rPr>
                        <a:t>4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extLst>
                  <a:ext uri="{0D108BD9-81ED-4DB2-BD59-A6C34878D82A}">
                    <a16:rowId xmlns:a16="http://schemas.microsoft.com/office/drawing/2014/main" val="1390064543"/>
                  </a:ext>
                </a:extLst>
              </a:tr>
              <a:tr h="423107">
                <a:tc>
                  <a:txBody>
                    <a:bodyPr/>
                    <a:lstStyle/>
                    <a:p>
                      <a:pPr marL="179705" indent="-179705" algn="just">
                        <a:lnSpc>
                          <a:spcPct val="107000"/>
                        </a:lnSpc>
                      </a:pPr>
                      <a:r>
                        <a:rPr lang="ru-RU" sz="1000">
                          <a:effectLst/>
                        </a:rPr>
                        <a:t>Тестирование интерфейса пользователя средствами инструментальной среды 	разработки, выполнение функционального тестирования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18.05.2026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09.40 - 15.10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000">
                          <a:effectLst/>
                        </a:rPr>
                        <a:t>6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extLst>
                  <a:ext uri="{0D108BD9-81ED-4DB2-BD59-A6C34878D82A}">
                    <a16:rowId xmlns:a16="http://schemas.microsoft.com/office/drawing/2014/main" val="1303456195"/>
                  </a:ext>
                </a:extLst>
              </a:tr>
              <a:tr h="206623">
                <a:tc>
                  <a:txBody>
                    <a:bodyPr/>
                    <a:lstStyle/>
                    <a:p>
                      <a:pPr marL="179705" indent="-179705" algn="just">
                        <a:lnSpc>
                          <a:spcPct val="107000"/>
                        </a:lnSpc>
                      </a:pPr>
                      <a:r>
                        <a:rPr lang="ru-RU" sz="1000">
                          <a:effectLst/>
                        </a:rPr>
                        <a:t>Тестирование проекта. Подготовка отчета по практике и защита проекта.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19.05.2026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237490" algn="l"/>
                          <a:tab pos="325120" algn="ctr"/>
                        </a:tabLs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</a:rPr>
                        <a:t>09.40 - 13.30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ru-RU" sz="1000" dirty="0">
                          <a:effectLst/>
                        </a:rPr>
                        <a:t>4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88" marR="60788" marT="0" marB="0"/>
                </a:tc>
                <a:extLst>
                  <a:ext uri="{0D108BD9-81ED-4DB2-BD59-A6C34878D82A}">
                    <a16:rowId xmlns:a16="http://schemas.microsoft.com/office/drawing/2014/main" val="2478604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2346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1. Название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3352" y="1343953"/>
            <a:ext cx="2952328" cy="4697410"/>
          </a:xfrm>
        </p:spPr>
        <p:txBody>
          <a:bodyPr/>
          <a:lstStyle/>
          <a:p>
            <a:r>
              <a:rPr lang="ru-RU" b="0" i="0" dirty="0">
                <a:solidFill>
                  <a:srgbClr val="343A40"/>
                </a:solidFill>
                <a:effectLst/>
                <a:latin typeface="DefaultFont"/>
              </a:rPr>
              <a:t>1. Анализ требований и проектирование UX/UI</a:t>
            </a:r>
            <a:endParaRPr lang="en-US" b="0" i="0" dirty="0">
              <a:solidFill>
                <a:srgbClr val="343A40"/>
              </a:solidFill>
              <a:effectLst/>
              <a:latin typeface="DefaultFont"/>
            </a:endParaRPr>
          </a:p>
          <a:p>
            <a:r>
              <a:rPr lang="ru-RU" b="0" i="0" dirty="0">
                <a:solidFill>
                  <a:srgbClr val="343A40"/>
                </a:solidFill>
                <a:effectLst/>
                <a:latin typeface="DefaultFont"/>
              </a:rPr>
              <a:t>2. Проектирование структуры данных и архитектуры</a:t>
            </a:r>
            <a:endParaRPr lang="en-US" b="0" i="0" dirty="0">
              <a:solidFill>
                <a:srgbClr val="343A40"/>
              </a:solidFill>
              <a:effectLst/>
              <a:latin typeface="DefaultFont"/>
            </a:endParaRPr>
          </a:p>
          <a:p>
            <a:r>
              <a:rPr lang="ru-RU" b="0" i="0" dirty="0">
                <a:solidFill>
                  <a:srgbClr val="343A40"/>
                </a:solidFill>
                <a:effectLst/>
                <a:latin typeface="DefaultFont"/>
              </a:rPr>
              <a:t>Разработка базы данных</a:t>
            </a:r>
            <a:endParaRPr lang="ru-RU" dirty="0"/>
          </a:p>
        </p:txBody>
      </p:sp>
      <p:pic>
        <p:nvPicPr>
          <p:cNvPr id="5" name="Рисунок 4" descr="Изображение выглядит как текст, диаграмма, План, Технический чертеж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EF0E081-8DB8-B3B3-27AA-DBDE3DEBC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95" y="1550989"/>
            <a:ext cx="8162715" cy="46974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17044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Риски практики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484785"/>
            <a:ext cx="9667138" cy="5040560"/>
          </a:xfrm>
        </p:spPr>
        <p:txBody>
          <a:bodyPr>
            <a:normAutofit/>
          </a:bodyPr>
          <a:lstStyle/>
          <a:p>
            <a:r>
              <a:rPr lang="ru-RU" dirty="0"/>
              <a:t>Современное предприятие по производству средств защиты растений сталкивается с рядом серьезных проблем в управлении производственными процессами. Создание единого информационного пространства</a:t>
            </a:r>
          </a:p>
          <a:p>
            <a:r>
              <a:rPr lang="ru-RU" dirty="0"/>
              <a:t>Решение:</a:t>
            </a:r>
          </a:p>
          <a:p>
            <a:r>
              <a:rPr lang="ru-RU" dirty="0"/>
              <a:t>Разработка централизованной информационной системы с единой базой данных.</a:t>
            </a:r>
          </a:p>
          <a:p>
            <a:endParaRPr lang="ru-RU" dirty="0"/>
          </a:p>
          <a:p>
            <a:r>
              <a:rPr lang="ru-RU" dirty="0"/>
              <a:t>Реализация:</a:t>
            </a:r>
          </a:p>
          <a:p>
            <a:endParaRPr lang="ru-RU" dirty="0"/>
          </a:p>
          <a:p>
            <a:r>
              <a:rPr lang="ru-RU" dirty="0"/>
              <a:t>Создание базы данных SQL Server, объединяющей все производственные данные</a:t>
            </a:r>
          </a:p>
          <a:p>
            <a:endParaRPr lang="ru-RU" dirty="0"/>
          </a:p>
          <a:p>
            <a:r>
              <a:rPr lang="ru-RU" dirty="0"/>
              <a:t>Разработка API для единого доступа к данным</a:t>
            </a:r>
          </a:p>
          <a:p>
            <a:endParaRPr lang="ru-RU" dirty="0"/>
          </a:p>
          <a:p>
            <a:r>
              <a:rPr lang="ru-RU" dirty="0"/>
              <a:t>Создание клиентских приложений для всех категорий пользователей</a:t>
            </a:r>
          </a:p>
        </p:txBody>
      </p:sp>
    </p:spTree>
    <p:extLst>
      <p:ext uri="{BB962C8B-B14F-4D97-AF65-F5344CB8AC3E}">
        <p14:creationId xmlns:p14="http://schemas.microsoft.com/office/powerpoint/2010/main" val="1320384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FBE5027E-0EA9-CEA6-0AF8-F33B8EBBD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80326"/>
              </p:ext>
            </p:extLst>
          </p:nvPr>
        </p:nvGraphicFramePr>
        <p:xfrm>
          <a:off x="1703512" y="2098739"/>
          <a:ext cx="7056783" cy="388706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352261">
                  <a:extLst>
                    <a:ext uri="{9D8B030D-6E8A-4147-A177-3AD203B41FA5}">
                      <a16:colId xmlns:a16="http://schemas.microsoft.com/office/drawing/2014/main" val="2697489585"/>
                    </a:ext>
                  </a:extLst>
                </a:gridCol>
                <a:gridCol w="2352261">
                  <a:extLst>
                    <a:ext uri="{9D8B030D-6E8A-4147-A177-3AD203B41FA5}">
                      <a16:colId xmlns:a16="http://schemas.microsoft.com/office/drawing/2014/main" val="3840150384"/>
                    </a:ext>
                  </a:extLst>
                </a:gridCol>
                <a:gridCol w="2352261">
                  <a:extLst>
                    <a:ext uri="{9D8B030D-6E8A-4147-A177-3AD203B41FA5}">
                      <a16:colId xmlns:a16="http://schemas.microsoft.com/office/drawing/2014/main" val="149559817"/>
                    </a:ext>
                  </a:extLst>
                </a:gridCol>
              </a:tblGrid>
              <a:tr h="228320">
                <a:tc>
                  <a:txBody>
                    <a:bodyPr/>
                    <a:lstStyle/>
                    <a:p>
                      <a:pPr algn="l"/>
                      <a:r>
                        <a:rPr lang="ru-RU" sz="1000" b="0">
                          <a:effectLst/>
                        </a:rPr>
                        <a:t>№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48926" marR="65234" marT="40771" marB="4077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>
                          <a:effectLst/>
                        </a:rPr>
                        <a:t>Вид работы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65234" marR="65234" marT="40771" marB="4077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>
                          <a:effectLst/>
                        </a:rPr>
                        <a:t>Результат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65234" marR="65234" marT="40771" marB="40771" anchor="ctr"/>
                </a:tc>
                <a:extLst>
                  <a:ext uri="{0D108BD9-81ED-4DB2-BD59-A6C34878D82A}">
                    <a16:rowId xmlns:a16="http://schemas.microsoft.com/office/drawing/2014/main" val="3949519040"/>
                  </a:ext>
                </a:extLst>
              </a:tr>
              <a:tr h="815428">
                <a:tc>
                  <a:txBody>
                    <a:bodyPr/>
                    <a:lstStyle/>
                    <a:p>
                      <a:r>
                        <a:rPr lang="ru-RU" sz="1000" b="0" dirty="0">
                          <a:effectLst/>
                        </a:rPr>
                        <a:t>1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48926" marR="65234" marT="40771" marB="40771" anchor="ctr"/>
                </a:tc>
                <a:tc>
                  <a:txBody>
                    <a:bodyPr/>
                    <a:lstStyle/>
                    <a:p>
                      <a:r>
                        <a:rPr lang="ru-RU" sz="1000" b="0" dirty="0">
                          <a:effectLst/>
                        </a:rPr>
                        <a:t>Изучение предметной области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65234" marR="65234" marT="40771" marB="40771" anchor="ctr"/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</a:rPr>
                        <a:t>Получены знания о производстве средств защиты растений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65234" marR="48926" marT="40771" marB="40771" anchor="ctr"/>
                </a:tc>
                <a:extLst>
                  <a:ext uri="{0D108BD9-81ED-4DB2-BD59-A6C34878D82A}">
                    <a16:rowId xmlns:a16="http://schemas.microsoft.com/office/drawing/2014/main" val="3656048160"/>
                  </a:ext>
                </a:extLst>
              </a:tr>
              <a:tr h="668651"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</a:rPr>
                        <a:t>2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48926" marR="65234" marT="40771" marB="40771" anchor="ctr"/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</a:rPr>
                        <a:t>Анализ существующих проблем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65234" marR="65234" marT="40771" marB="40771" anchor="ctr"/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</a:rPr>
                        <a:t>Выявлены 6 ключевых проблем предприятия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65234" marR="48926" marT="40771" marB="40771" anchor="ctr"/>
                </a:tc>
                <a:extLst>
                  <a:ext uri="{0D108BD9-81ED-4DB2-BD59-A6C34878D82A}">
                    <a16:rowId xmlns:a16="http://schemas.microsoft.com/office/drawing/2014/main" val="3724927370"/>
                  </a:ext>
                </a:extLst>
              </a:tr>
              <a:tr h="375097"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</a:rPr>
                        <a:t>3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48926" marR="65234" marT="40771" marB="40771" anchor="ctr"/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</a:rPr>
                        <a:t>Проектирование базы данных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65234" marR="65234" marT="40771" marB="40771" anchor="ctr"/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</a:rPr>
                        <a:t>Разработана БД из 15 таблиц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65234" marR="48926" marT="40771" marB="40771" anchor="ctr"/>
                </a:tc>
                <a:extLst>
                  <a:ext uri="{0D108BD9-81ED-4DB2-BD59-A6C34878D82A}">
                    <a16:rowId xmlns:a16="http://schemas.microsoft.com/office/drawing/2014/main" val="3715689047"/>
                  </a:ext>
                </a:extLst>
              </a:tr>
              <a:tr h="375097"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</a:rPr>
                        <a:t>4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48926" marR="65234" marT="40771" marB="40771" anchor="ctr"/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</a:rPr>
                        <a:t>Разработка </a:t>
                      </a:r>
                      <a:r>
                        <a:rPr lang="en-US" sz="1000" b="0">
                          <a:effectLst/>
                        </a:rPr>
                        <a:t>API</a:t>
                      </a:r>
                      <a:endParaRPr lang="en-US" sz="1000" b="0">
                        <a:effectLst/>
                        <a:latin typeface="quote-cjk-patch"/>
                      </a:endParaRPr>
                    </a:p>
                  </a:txBody>
                  <a:tcPr marL="65234" marR="65234" marT="40771" marB="40771" anchor="ctr"/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</a:rPr>
                        <a:t>Создано 25 </a:t>
                      </a:r>
                      <a:r>
                        <a:rPr lang="en-US" sz="1000" b="0">
                          <a:effectLst/>
                        </a:rPr>
                        <a:t>API </a:t>
                      </a:r>
                      <a:r>
                        <a:rPr lang="ru-RU" sz="1000" b="0">
                          <a:effectLst/>
                        </a:rPr>
                        <a:t>эндпоинтов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65234" marR="48926" marT="40771" marB="40771" anchor="ctr"/>
                </a:tc>
                <a:extLst>
                  <a:ext uri="{0D108BD9-81ED-4DB2-BD59-A6C34878D82A}">
                    <a16:rowId xmlns:a16="http://schemas.microsoft.com/office/drawing/2014/main" val="3127482246"/>
                  </a:ext>
                </a:extLst>
              </a:tr>
              <a:tr h="668651"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</a:rPr>
                        <a:t>5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48926" marR="65234" marT="40771" marB="40771" anchor="ctr"/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</a:rPr>
                        <a:t>Разработка </a:t>
                      </a:r>
                      <a:r>
                        <a:rPr lang="en-US" sz="1000" b="0">
                          <a:effectLst/>
                        </a:rPr>
                        <a:t>desktop-</a:t>
                      </a:r>
                      <a:r>
                        <a:rPr lang="ru-RU" sz="1000" b="0">
                          <a:effectLst/>
                        </a:rPr>
                        <a:t>приложений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65234" marR="65234" marT="40771" marB="40771" anchor="ctr"/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</a:rPr>
                        <a:t>Созданы 2 приложения (технолог + лаборатория)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65234" marR="48926" marT="40771" marB="40771" anchor="ctr"/>
                </a:tc>
                <a:extLst>
                  <a:ext uri="{0D108BD9-81ED-4DB2-BD59-A6C34878D82A}">
                    <a16:rowId xmlns:a16="http://schemas.microsoft.com/office/drawing/2014/main" val="2935553629"/>
                  </a:ext>
                </a:extLst>
              </a:tr>
              <a:tr h="375097"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</a:rPr>
                        <a:t>6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48926" marR="65234" marT="40771" marB="40771" anchor="ctr"/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</a:rPr>
                        <a:t>Тестирование системы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65234" marR="65234" marT="40771" marB="40771" anchor="ctr"/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</a:rPr>
                        <a:t>Проведено 86 тестов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65234" marR="48926" marT="40771" marB="40771" anchor="ctr"/>
                </a:tc>
                <a:extLst>
                  <a:ext uri="{0D108BD9-81ED-4DB2-BD59-A6C34878D82A}">
                    <a16:rowId xmlns:a16="http://schemas.microsoft.com/office/drawing/2014/main" val="636397494"/>
                  </a:ext>
                </a:extLst>
              </a:tr>
              <a:tr h="375097"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</a:rPr>
                        <a:t>7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48926" marR="65234" marT="40771" marB="40771" anchor="ctr"/>
                </a:tc>
                <a:tc>
                  <a:txBody>
                    <a:bodyPr/>
                    <a:lstStyle/>
                    <a:p>
                      <a:r>
                        <a:rPr lang="ru-RU" sz="1000" b="0">
                          <a:effectLst/>
                        </a:rPr>
                        <a:t>Подготовка документации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65234" marR="65234" marT="40771" marB="40771" anchor="ctr"/>
                </a:tc>
                <a:tc>
                  <a:txBody>
                    <a:bodyPr/>
                    <a:lstStyle/>
                    <a:p>
                      <a:r>
                        <a:rPr lang="ru-RU" sz="1000" b="0" dirty="0">
                          <a:effectLst/>
                        </a:rPr>
                        <a:t>Написаны 4 документа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65234" marR="48926" marT="40771" marB="40771" anchor="ctr"/>
                </a:tc>
                <a:extLst>
                  <a:ext uri="{0D108BD9-81ED-4DB2-BD59-A6C34878D82A}">
                    <a16:rowId xmlns:a16="http://schemas.microsoft.com/office/drawing/2014/main" val="3057135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87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4F5E00-DD85-1B22-8358-859BA24B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Чему научился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180C63-7292-D796-7ADE-AC265E15324A}"/>
              </a:ext>
            </a:extLst>
          </p:cNvPr>
          <p:cNvSpPr txBox="1"/>
          <p:nvPr/>
        </p:nvSpPr>
        <p:spPr>
          <a:xfrm>
            <a:off x="1703512" y="1720840"/>
            <a:ext cx="74481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ПОЛУЧЕННЫЙ ОПЫТ</a:t>
            </a:r>
          </a:p>
          <a:p>
            <a:r>
              <a:rPr lang="ru-RU" dirty="0"/>
              <a:t>Что дала практика:</a:t>
            </a:r>
          </a:p>
          <a:p>
            <a:endParaRPr lang="ru-RU" dirty="0"/>
          </a:p>
          <a:p>
            <a:r>
              <a:rPr lang="ru-RU" dirty="0"/>
              <a:t>Понимание полного цикла разработки ПО (от анализа до внедрения)</a:t>
            </a:r>
          </a:p>
          <a:p>
            <a:endParaRPr lang="ru-RU" dirty="0"/>
          </a:p>
          <a:p>
            <a:r>
              <a:rPr lang="ru-RU" dirty="0"/>
              <a:t>Навыки командной работы через </a:t>
            </a:r>
            <a:r>
              <a:rPr lang="ru-RU" dirty="0" err="1"/>
              <a:t>Git</a:t>
            </a:r>
            <a:endParaRPr lang="ru-RU" dirty="0"/>
          </a:p>
          <a:p>
            <a:endParaRPr lang="ru-RU" dirty="0"/>
          </a:p>
          <a:p>
            <a:r>
              <a:rPr lang="ru-RU" dirty="0"/>
              <a:t>Опыт работы с реальной предметной областью</a:t>
            </a:r>
          </a:p>
          <a:p>
            <a:endParaRPr lang="ru-RU" dirty="0"/>
          </a:p>
          <a:p>
            <a:r>
              <a:rPr lang="ru-RU" dirty="0"/>
              <a:t>Умение переводить бизнес-требования в технические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262595478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</TotalTime>
  <Words>492</Words>
  <Application>Microsoft Office PowerPoint</Application>
  <PresentationFormat>Широкоэкранный</PresentationFormat>
  <Paragraphs>140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7" baseType="lpstr">
      <vt:lpstr>Arial</vt:lpstr>
      <vt:lpstr>Calibri</vt:lpstr>
      <vt:lpstr>DefaultFont</vt:lpstr>
      <vt:lpstr>LatoWeb</vt:lpstr>
      <vt:lpstr>Onest Variable</vt:lpstr>
      <vt:lpstr>quote-cjk-patch</vt:lpstr>
      <vt:lpstr>Times New Roman</vt:lpstr>
      <vt:lpstr>Trebuchet MS</vt:lpstr>
      <vt:lpstr>Wingdings 3</vt:lpstr>
      <vt:lpstr>Аспект</vt:lpstr>
      <vt:lpstr>Отчет по учебной практике  ПМ.02 Осуществление интеграции программных модулей</vt:lpstr>
      <vt:lpstr>База практики</vt:lpstr>
      <vt:lpstr>План практики</vt:lpstr>
      <vt:lpstr>Задание 1. Название</vt:lpstr>
      <vt:lpstr>Риски практики</vt:lpstr>
      <vt:lpstr>Заключение</vt:lpstr>
      <vt:lpstr>Чему научился 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по учебной практике  ПМ.02 Осуществление интеграции программных модулей</dc:title>
  <dc:creator>Prepod_1</dc:creator>
  <cp:lastModifiedBy>deb296118@gmail.com</cp:lastModifiedBy>
  <cp:revision>3</cp:revision>
  <dcterms:created xsi:type="dcterms:W3CDTF">2023-05-12T10:02:04Z</dcterms:created>
  <dcterms:modified xsi:type="dcterms:W3CDTF">2026-05-18T11:21:27Z</dcterms:modified>
</cp:coreProperties>
</file>